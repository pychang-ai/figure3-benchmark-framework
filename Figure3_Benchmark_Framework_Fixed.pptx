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584400" cy="11152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0000" y="720000"/>
            <a:ext cx="540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Data Collection &amp; Description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5 Taiwanese Ports · 2001–2026 · 301 months/port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Kaohsiung · Keelung · Taipei · Taichung · Anping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12000" y="828000"/>
            <a:ext cx="432000" cy="216000"/>
          </a:xfrm>
          <a:prstGeom prst="roundRect">
            <a:avLst/>
          </a:prstGeom>
          <a:solidFill>
            <a:srgbClr val="D6EAF8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§3.1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40000.0" y="151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540000" y="1800000"/>
            <a:ext cx="5400000" cy="792000"/>
          </a:xfrm>
          <a:prstGeom prst="roundRect">
            <a:avLst/>
          </a:prstGeom>
          <a:solidFill>
            <a:srgbClr val="D6EAF8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Experimental Setup (NeuralForecast)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Train/Test split (last 12 months) · h=12 · input_size=24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max_steps=1000 · Standard scaling · RTX 4060 Ti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12000" y="1908000"/>
            <a:ext cx="432000" cy="216000"/>
          </a:xfrm>
          <a:prstGeom prst="roundRect">
            <a:avLst/>
          </a:prstGeom>
          <a:solidFill>
            <a:srgbClr val="D6EAF8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§3.2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40000.0" y="2592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540000" y="2880000"/>
            <a:ext cx="5400000" cy="1260000"/>
          </a:xfrm>
          <a:prstGeom prst="roundRect">
            <a:avLst/>
          </a:prstGeom>
          <a:solidFill>
            <a:srgbClr val="FDEBD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10 Deep Learning Models × 5 Architectural Families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12000" y="2988000"/>
            <a:ext cx="432000" cy="216000"/>
          </a:xfrm>
          <a:prstGeom prst="roundRect">
            <a:avLst/>
          </a:prstGeom>
          <a:solidFill>
            <a:srgbClr val="FDEBD0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§3.3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0000" y="3168000"/>
            <a:ext cx="1512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Basis Expansion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N-BEATS · N-HiTS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12000" y="3168000"/>
            <a:ext cx="1512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Transformer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PatchTST · TFT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04000" y="3168000"/>
            <a:ext cx="1512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MLP/Linear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DLinear · TiDE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60000" y="3671999"/>
            <a:ext cx="2340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CNN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TCN · BiTCN · TimesNet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60000" y="3671999"/>
            <a:ext cx="2340000" cy="432000"/>
          </a:xfrm>
          <a:prstGeom prst="roundRect">
            <a:avLst/>
          </a:prstGeom>
          <a:solidFill>
            <a:srgbClr val="FFEBC8"/>
          </a:solidFill>
          <a:ln w="3810">
            <a:solidFill>
              <a:srgbClr val="FF8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RNN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LSTM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240000.0" y="414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540000" y="4428000"/>
            <a:ext cx="5400000" cy="792000"/>
          </a:xfrm>
          <a:prstGeom prst="roundRect">
            <a:avLst/>
          </a:prstGeom>
          <a:solidFill>
            <a:srgbClr val="D5F5E3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Evaluation Metrics</a:t>
            </a:r>
          </a:p>
          <a:p>
            <a:pPr algn="ctr"/>
            <a:r>
              <a:rPr sz="1000">
                <a:solidFill>
                  <a:srgbClr val="000000"/>
                </a:solidFill>
                <a:latin typeface="Arial"/>
              </a:rPr>
              <a:t>MAE · RMSE · MAPE · SMAPE · R²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012000" y="4536000"/>
            <a:ext cx="432000" cy="216000"/>
          </a:xfrm>
          <a:prstGeom prst="roundRect">
            <a:avLst/>
          </a:prstGeom>
          <a:solidFill>
            <a:srgbClr val="D5F5E3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§3.4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240000.0" y="522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40000" y="5508000"/>
            <a:ext cx="5400000" cy="1152000"/>
          </a:xfrm>
          <a:prstGeom prst="roundRect">
            <a:avLst/>
          </a:prstGeom>
          <a:solidFill>
            <a:srgbClr val="E8DAEF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000000"/>
                </a:solidFill>
                <a:latin typeface="Arial"/>
              </a:rPr>
              <a:t>Three-Tier Statistical Comparison Framework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12000" y="5616000"/>
            <a:ext cx="432000" cy="216000"/>
          </a:xfrm>
          <a:prstGeom prst="roundRect">
            <a:avLst/>
          </a:prstGeom>
          <a:solidFill>
            <a:srgbClr val="E8DAEF"/>
          </a:solidFill>
          <a:ln w="3810">
            <a:solidFill>
              <a:srgbClr val="6464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/>
          <a:lstStyle/>
          <a:p>
            <a:pPr algn="ctr"/>
            <a:r>
              <a:rPr sz="900" b="1">
                <a:solidFill>
                  <a:srgbClr val="000000"/>
                </a:solidFill>
                <a:latin typeface="Arial"/>
              </a:rPr>
              <a:t>§3.5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20000" y="5868000"/>
            <a:ext cx="162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1: Global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Friedman Test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+ Nemenyi Post-hoc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0000" y="64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Are models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different?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412000" y="5868000"/>
            <a:ext cx="162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2: Pairwise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Diebold–Mariano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+ Harvey Correction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12000" y="64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Which pairs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differ?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104000" y="5868000"/>
            <a:ext cx="1620000" cy="54000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A078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800" b="1">
                <a:solidFill>
                  <a:srgbClr val="000000"/>
                </a:solidFill>
                <a:latin typeface="Arial"/>
              </a:rPr>
              <a:t>Tier 3: Set-based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Model Confidence</a:t>
            </a:r>
          </a:p>
          <a:p>
            <a:pPr algn="ctr"/>
            <a:r>
              <a:rPr sz="700">
                <a:solidFill>
                  <a:srgbClr val="000000"/>
                </a:solidFill>
                <a:latin typeface="Arial"/>
              </a:rPr>
              <a:t>Set (MCS)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04000" y="6480000"/>
            <a:ext cx="16200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FF8C00"/>
                </a:solidFill>
                <a:latin typeface="Arial"/>
              </a:rPr>
              <a:t>Best</a:t>
            </a:r>
            <a:br/>
            <a:r>
              <a:rPr sz="800" i="1">
                <a:solidFill>
                  <a:srgbClr val="FF8C00"/>
                </a:solidFill>
                <a:latin typeface="Arial"/>
              </a:rPr>
              <a:t>subset?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3240000.0" y="6660000"/>
            <a:ext cx="0.0" cy="288000"/>
          </a:xfrm>
          <a:prstGeom prst="line">
            <a:avLst/>
          </a:prstGeom>
          <a:ln w="25400">
            <a:solidFill>
              <a:srgbClr val="2C3E5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540000" y="6948000"/>
            <a:ext cx="5400000" cy="792000"/>
          </a:xfrm>
          <a:prstGeom prst="roundRect">
            <a:avLst/>
          </a:prstGeom>
          <a:solidFill>
            <a:srgbClr val="2C3E50"/>
          </a:solidFill>
          <a:ln w="6350">
            <a:solidFill>
              <a:srgbClr val="80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0000" rIns="180000" tIns="72000" bIns="72000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Results: Model Rankings · Port-Specific Guidelines · Best Model Set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