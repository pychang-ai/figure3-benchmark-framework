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8000" y="540000"/>
            <a:ext cx="1728000" cy="115200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Data Collection &amp;</a:t>
            </a:r>
            <a:br/>
            <a:r>
              <a:t>Description</a:t>
            </a:r>
            <a:br/>
            <a:br/>
            <a:r>
              <a:t>5 Taiwanese Ports</a:t>
            </a:r>
            <a:br/>
            <a:r>
              <a:t>2001-2026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016000" y="1116000.0"/>
            <a:ext cx="72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088000" y="540000"/>
            <a:ext cx="1728000" cy="1152000"/>
          </a:xfrm>
          <a:prstGeom prst="roundRect">
            <a:avLst/>
          </a:prstGeom>
          <a:solidFill>
            <a:srgbClr val="D6EAF8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Experimental Setup</a:t>
            </a:r>
            <a:br/>
            <a:r>
              <a:t>(NeuralForecast)</a:t>
            </a:r>
            <a:br/>
            <a:br/>
            <a:r>
              <a:t>Train/Test split</a:t>
            </a:r>
            <a:br/>
            <a:r>
              <a:t>h=12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16000" y="1116000.0"/>
            <a:ext cx="72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88000" y="540000"/>
            <a:ext cx="1728000" cy="1152000"/>
          </a:xfrm>
          <a:prstGeom prst="roundRect">
            <a:avLst/>
          </a:prstGeom>
          <a:solidFill>
            <a:srgbClr val="FDEBD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10 Deep Learning</a:t>
            </a:r>
            <a:br/>
            <a:r>
              <a:t>Models ×</a:t>
            </a:r>
            <a:br/>
            <a:r>
              <a:t>5 Architectural</a:t>
            </a:r>
            <a:br/>
            <a:r>
              <a:t>Families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88000" y="1764000"/>
            <a:ext cx="540000" cy="288000"/>
          </a:xfrm>
          <a:prstGeom prst="roundRect">
            <a:avLst/>
          </a:prstGeom>
          <a:solidFill>
            <a:srgbClr val="FFEBC8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N-BEATS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6000" y="1764000"/>
            <a:ext cx="540000" cy="288000"/>
          </a:xfrm>
          <a:prstGeom prst="roundRect">
            <a:avLst/>
          </a:prstGeom>
          <a:solidFill>
            <a:srgbClr val="FFEBC8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PatchTST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04000" y="1764000"/>
            <a:ext cx="540000" cy="288000"/>
          </a:xfrm>
          <a:prstGeom prst="roundRect">
            <a:avLst/>
          </a:prstGeom>
          <a:solidFill>
            <a:srgbClr val="FFEBC8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DLinear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16000" y="1116000.0"/>
            <a:ext cx="72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88000" y="540000"/>
            <a:ext cx="1728000" cy="1152000"/>
          </a:xfrm>
          <a:prstGeom prst="roundRect">
            <a:avLst/>
          </a:prstGeom>
          <a:solidFill>
            <a:srgbClr val="D5F5E3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Evaluation</a:t>
            </a:r>
            <a:br/>
            <a:r>
              <a:t>Metrics</a:t>
            </a:r>
            <a:br/>
            <a:br/>
            <a:r>
              <a:t>MAE, RMSE</a:t>
            </a:r>
            <a:br/>
            <a:r>
              <a:t>MAPE, SMAPE, R²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16000" y="1116000.0"/>
            <a:ext cx="72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88000" y="540000"/>
            <a:ext cx="1728000" cy="1152000"/>
          </a:xfrm>
          <a:prstGeom prst="roundRect">
            <a:avLst/>
          </a:prstGeom>
          <a:solidFill>
            <a:srgbClr val="E8DAE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Three-Tier</a:t>
            </a:r>
            <a:br/>
            <a:r>
              <a:t>Statistical</a:t>
            </a:r>
            <a:br/>
            <a:r>
              <a:t>Comparison</a:t>
            </a:r>
            <a:br/>
            <a:r>
              <a:t>Framework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88000" y="1764000"/>
            <a:ext cx="503999" cy="2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Tier 1</a:t>
            </a:r>
            <a:br/>
            <a:r>
              <a:t>Global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9999" y="1764000"/>
            <a:ext cx="503999" cy="2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Tier 2</a:t>
            </a:r>
            <a:br/>
            <a:r>
              <a:t>Pairwise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1998" y="1764000"/>
            <a:ext cx="503999" cy="2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Tier 3</a:t>
            </a:r>
            <a:br/>
            <a:r>
              <a:t>Set-based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16000" y="1116000.0"/>
            <a:ext cx="72000" cy="0.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288000" y="540000"/>
            <a:ext cx="1728000" cy="1152000"/>
          </a:xfrm>
          <a:prstGeom prst="roundRect">
            <a:avLst/>
          </a:prstGeom>
          <a:solidFill>
            <a:srgbClr val="2C3E50"/>
          </a:solidFill>
          <a:ln w="1270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36000" bIns="36000"/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Results</a:t>
            </a:r>
            <a:br/>
            <a:br/>
            <a:r>
              <a:t>Model Rankings</a:t>
            </a:r>
            <a:br/>
            <a:r>
              <a:t>Port-Specific</a:t>
            </a:r>
            <a:br/>
            <a:r>
              <a:t>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