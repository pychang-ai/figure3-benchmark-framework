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84400" cy="1115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720000"/>
            <a:ext cx="5400000" cy="792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latin typeface="Arial"/>
              </a:rPr>
              <a:t>Data Collection &amp; Description</a:t>
            </a:r>
          </a:p>
          <a:p>
            <a:pPr algn="ctr"/>
            <a:r>
              <a:rPr sz="1000">
                <a:latin typeface="Arial"/>
              </a:rPr>
              <a:t>5 Taiwanese Ports · 2001–2026 · 301 months/port</a:t>
            </a:r>
          </a:p>
          <a:p>
            <a:pPr algn="ctr"/>
            <a:r>
              <a:rPr sz="1000">
                <a:latin typeface="Arial"/>
              </a:rPr>
              <a:t>Kaohsiung · Keelung · Taipei · Taichung · Anping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12000" y="828000"/>
            <a:ext cx="432000" cy="216000"/>
          </a:xfrm>
          <a:prstGeom prst="roundRect">
            <a:avLst/>
          </a:prstGeom>
          <a:solidFill>
            <a:srgbClr val="D6EAF8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latin typeface="Arial"/>
              </a:rPr>
              <a:t>§3.1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40000.0" y="1512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800000"/>
            <a:ext cx="5400000" cy="792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latin typeface="Arial"/>
              </a:rPr>
              <a:t>Experimental Setup (NeuralForecast)</a:t>
            </a:r>
          </a:p>
          <a:p>
            <a:pPr algn="ctr"/>
            <a:r>
              <a:rPr sz="1000">
                <a:latin typeface="Arial"/>
              </a:rPr>
              <a:t>Train/Test split (last 12 months) · h=12 · input_size=24</a:t>
            </a:r>
          </a:p>
          <a:p>
            <a:pPr algn="ctr"/>
            <a:r>
              <a:rPr sz="1000">
                <a:latin typeface="Arial"/>
              </a:rPr>
              <a:t>max_steps=1000 · Standard scaling · RTX 4060 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2000" y="1908000"/>
            <a:ext cx="432000" cy="216000"/>
          </a:xfrm>
          <a:prstGeom prst="roundRect">
            <a:avLst/>
          </a:prstGeom>
          <a:solidFill>
            <a:srgbClr val="D6EAF8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latin typeface="Arial"/>
              </a:rPr>
              <a:t>§3.2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0000.0" y="2592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0000" y="2880000"/>
            <a:ext cx="5400000" cy="1260000"/>
          </a:xfrm>
          <a:prstGeom prst="roundRect">
            <a:avLst/>
          </a:prstGeom>
          <a:solidFill>
            <a:srgbClr val="FDEB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latin typeface="Arial"/>
              </a:rPr>
              <a:t>10 Deep Learning Models × 5 Architectural Families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2000" y="2988000"/>
            <a:ext cx="432000" cy="216000"/>
          </a:xfrm>
          <a:prstGeom prst="roundRect">
            <a:avLst/>
          </a:prstGeom>
          <a:solidFill>
            <a:srgbClr val="FDEBD0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latin typeface="Arial"/>
              </a:rPr>
              <a:t>§3.3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168000"/>
            <a:ext cx="1512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Basis Expansion</a:t>
            </a:r>
          </a:p>
          <a:p>
            <a:pPr algn="ctr"/>
            <a:r>
              <a:rPr sz="700">
                <a:latin typeface="Arial"/>
              </a:rPr>
              <a:t>N-BEATS · N-HiTS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2000" y="3168000"/>
            <a:ext cx="1512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Transformer</a:t>
            </a:r>
          </a:p>
          <a:p>
            <a:pPr algn="ctr"/>
            <a:r>
              <a:rPr sz="700">
                <a:latin typeface="Arial"/>
              </a:rPr>
              <a:t>PatchTST · TFT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04000" y="3168000"/>
            <a:ext cx="1512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MLP/Linear</a:t>
            </a:r>
          </a:p>
          <a:p>
            <a:pPr algn="ctr"/>
            <a:r>
              <a:rPr sz="700">
                <a:latin typeface="Arial"/>
              </a:rPr>
              <a:t>DLinear · TiDE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0000" y="3671999"/>
            <a:ext cx="2340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CNN</a:t>
            </a:r>
          </a:p>
          <a:p>
            <a:pPr algn="ctr"/>
            <a:r>
              <a:rPr sz="700">
                <a:latin typeface="Arial"/>
              </a:rPr>
              <a:t>TCN · BiTCN · TimesNet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0000" y="3671999"/>
            <a:ext cx="2340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RNN</a:t>
            </a:r>
          </a:p>
          <a:p>
            <a:pPr algn="ctr"/>
            <a:r>
              <a:rPr sz="700">
                <a:latin typeface="Arial"/>
              </a:rPr>
              <a:t>LSTM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0000.0" y="414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0000" y="4428000"/>
            <a:ext cx="5400000" cy="792000"/>
          </a:xfrm>
          <a:prstGeom prst="roundRect">
            <a:avLst/>
          </a:prstGeom>
          <a:solidFill>
            <a:srgbClr val="D5F5E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latin typeface="Arial"/>
              </a:rPr>
              <a:t>Evaluation Metrics</a:t>
            </a:r>
          </a:p>
          <a:p>
            <a:pPr algn="ctr"/>
            <a:r>
              <a:rPr sz="1000">
                <a:latin typeface="Arial"/>
              </a:rPr>
              <a:t>MAE · RMSE · MAPE · SMAPE · R²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2000" y="4536000"/>
            <a:ext cx="432000" cy="216000"/>
          </a:xfrm>
          <a:prstGeom prst="roundRect">
            <a:avLst/>
          </a:prstGeom>
          <a:solidFill>
            <a:srgbClr val="D5F5E3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latin typeface="Arial"/>
              </a:rPr>
              <a:t>§3.4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40000.0" y="522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0000" y="5508000"/>
            <a:ext cx="5400000" cy="1152000"/>
          </a:xfrm>
          <a:prstGeom prst="roundRect">
            <a:avLst/>
          </a:prstGeom>
          <a:solidFill>
            <a:srgbClr val="E8DA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latin typeface="Arial"/>
              </a:rPr>
              <a:t>Three-Tier Statistical Comparison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2000" y="5616000"/>
            <a:ext cx="432000" cy="216000"/>
          </a:xfrm>
          <a:prstGeom prst="roundRect">
            <a:avLst/>
          </a:prstGeom>
          <a:solidFill>
            <a:srgbClr val="E8DAEF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latin typeface="Arial"/>
              </a:rPr>
              <a:t>§3.5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5868000"/>
            <a:ext cx="162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Tier 1: Global</a:t>
            </a:r>
          </a:p>
          <a:p>
            <a:pPr algn="ctr"/>
            <a:r>
              <a:rPr sz="700">
                <a:latin typeface="Arial"/>
              </a:rPr>
              <a:t>Friedman Test</a:t>
            </a:r>
          </a:p>
          <a:p>
            <a:pPr algn="ctr"/>
            <a:r>
              <a:rPr sz="700">
                <a:latin typeface="Arial"/>
              </a:rPr>
              <a:t>+ Nemenyi Post-hoc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64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Are models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different?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12000" y="5868000"/>
            <a:ext cx="162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Tier 2: Pairwise</a:t>
            </a:r>
          </a:p>
          <a:p>
            <a:pPr algn="ctr"/>
            <a:r>
              <a:rPr sz="700">
                <a:latin typeface="Arial"/>
              </a:rPr>
              <a:t>Diebold–Mariano</a:t>
            </a:r>
          </a:p>
          <a:p>
            <a:pPr algn="ctr"/>
            <a:r>
              <a:rPr sz="700">
                <a:latin typeface="Arial"/>
              </a:rPr>
              <a:t>+ Harvey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2000" y="64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Which pairs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differ?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04000" y="5868000"/>
            <a:ext cx="162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Tier 3: Set-based</a:t>
            </a:r>
          </a:p>
          <a:p>
            <a:pPr algn="ctr"/>
            <a:r>
              <a:rPr sz="700">
                <a:latin typeface="Arial"/>
              </a:rPr>
              <a:t>Model Confidence</a:t>
            </a:r>
          </a:p>
          <a:p>
            <a:pPr algn="ctr"/>
            <a:r>
              <a:rPr sz="700">
                <a:latin typeface="Arial"/>
              </a:rPr>
              <a:t>Set (MCS)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4000" y="64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Best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subset?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40000.0" y="666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0000" y="6948000"/>
            <a:ext cx="5400000" cy="79200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Results: Model Rankings · Port-Specific Guidelines · Best Model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