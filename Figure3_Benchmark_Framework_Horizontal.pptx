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720000"/>
            <a:ext cx="1872000" cy="1440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Data Collection &amp;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Description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5 Taiwanese Ports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2001–2026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301 months/port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Kaohsiung · Keelung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Taipei · Taichung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Anping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32000" y="144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40000" y="720000"/>
            <a:ext cx="1872000" cy="1440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Experimental Setup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(NeuralForecast)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Train/Test split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(last 12 months)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h=12 · input_size=24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max_steps=1000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Standard scaling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RTX 4060 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12000" y="144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20000" y="270000"/>
            <a:ext cx="1872000" cy="2340000"/>
          </a:xfrm>
          <a:prstGeom prst="roundRect">
            <a:avLst/>
          </a:prstGeom>
          <a:solidFill>
            <a:srgbClr val="FDEB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10 Deep Learning Models ×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5 Architectural Families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8000" y="810000"/>
            <a:ext cx="1655999" cy="288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Basis Expansion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N-BEATS · N-HiTS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8000" y="1134000"/>
            <a:ext cx="1655999" cy="288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Transformer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PatchTST · TFT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8000" y="1458000"/>
            <a:ext cx="1655999" cy="288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MLP/Linear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DLinear · TiDE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000" y="1782000"/>
            <a:ext cx="1655999" cy="288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CNN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TCN · BiTCN · TimesNet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8000" y="2106000"/>
            <a:ext cx="1655999" cy="288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RNN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LSTM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2000" y="144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0000" y="720000"/>
            <a:ext cx="1872000" cy="1440000"/>
          </a:xfrm>
          <a:prstGeom prst="roundRect">
            <a:avLst/>
          </a:prstGeom>
          <a:solidFill>
            <a:srgbClr val="D5F5E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Evaluation Metrics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MAE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RMSE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MAPE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SMAPE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72000" y="144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80000" y="450000"/>
            <a:ext cx="1872000" cy="1980000"/>
          </a:xfrm>
          <a:prstGeom prst="roundRect">
            <a:avLst/>
          </a:prstGeom>
          <a:solidFill>
            <a:srgbClr val="E8DAE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Three-Tier Statistical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Comparison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8000" y="990000"/>
            <a:ext cx="1655999" cy="43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Tier 1: Global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Friedman Test +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Nemenyi Post-hoc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9999" y="1098000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i="1">
                <a:solidFill>
                  <a:srgbClr val="FF8C00"/>
                </a:solidFill>
                <a:latin typeface="Arial"/>
              </a:rPr>
              <a:t>Are models</a:t>
            </a:r>
            <a:br/>
            <a:r>
              <a:rPr sz="700" i="1">
                <a:solidFill>
                  <a:srgbClr val="FF8C00"/>
                </a:solidFill>
                <a:latin typeface="Arial"/>
              </a:rPr>
              <a:t>different?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8000" y="1493999"/>
            <a:ext cx="1655999" cy="43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Tier 2: Pairwise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Diebold–Mariano +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Harvey Correction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9999" y="1601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i="1">
                <a:solidFill>
                  <a:srgbClr val="FF8C00"/>
                </a:solidFill>
                <a:latin typeface="Arial"/>
              </a:rPr>
              <a:t>Which pairs</a:t>
            </a:r>
            <a:br/>
            <a:r>
              <a:rPr sz="700" i="1">
                <a:solidFill>
                  <a:srgbClr val="FF8C00"/>
                </a:solidFill>
                <a:latin typeface="Arial"/>
              </a:rPr>
              <a:t>differ?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8000" y="1997998"/>
            <a:ext cx="1655999" cy="43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Tier 3: Set-based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Model Confidence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Set (MCS)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9999" y="2105998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i="1">
                <a:solidFill>
                  <a:srgbClr val="FF8C00"/>
                </a:solidFill>
                <a:latin typeface="Arial"/>
              </a:rPr>
              <a:t>Best</a:t>
            </a:r>
            <a:br/>
            <a:r>
              <a:rPr sz="700" i="1">
                <a:solidFill>
                  <a:srgbClr val="FF8C00"/>
                </a:solidFill>
                <a:latin typeface="Arial"/>
              </a:rPr>
              <a:t>subset?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52000" y="144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60000" y="720000"/>
            <a:ext cx="1872000" cy="144000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Results</a:t>
            </a:r>
          </a:p>
          <a:p>
            <a:pPr algn="ctr"/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Model Rankings</a:t>
            </a:r>
          </a:p>
          <a:p>
            <a:pPr algn="ctr"/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Port-Specific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Guidelines</a:t>
            </a:r>
          </a:p>
          <a:p>
            <a:pPr algn="ctr"/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Best Model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