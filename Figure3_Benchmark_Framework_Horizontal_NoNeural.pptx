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1080000"/>
            <a:ext cx="1872000" cy="1260000"/>
          </a:xfrm>
          <a:prstGeom prst="roundRect">
            <a:avLst/>
          </a:prstGeom>
          <a:solidFill>
            <a:srgbClr val="D6EAF8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72000" bIns="72000"/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Data Collection &amp;</a:t>
            </a:r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Description</a:t>
            </a:r>
          </a:p>
          <a:p>
            <a:pPr algn="ctr"/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5 Taiwanese Ports</a:t>
            </a:r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2001–2026</a:t>
            </a:r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301 months/port</a:t>
            </a:r>
          </a:p>
          <a:p>
            <a:pPr algn="ctr"/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Kaohsiung · Keelung</a:t>
            </a:r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Taipei · Taichung</a:t>
            </a:r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Anping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232000" y="1710000.0"/>
            <a:ext cx="108000" cy="0.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2340000" y="1080000"/>
            <a:ext cx="1872000" cy="1260000"/>
          </a:xfrm>
          <a:prstGeom prst="roundRect">
            <a:avLst/>
          </a:prstGeom>
          <a:solidFill>
            <a:srgbClr val="D6EAF8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72000" bIns="72000"/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Experimental Setup</a:t>
            </a:r>
          </a:p>
          <a:p>
            <a:pPr algn="ctr"/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Train/Test split</a:t>
            </a:r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(last 12 months)</a:t>
            </a:r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h=12 · input_size=24</a:t>
            </a:r>
          </a:p>
          <a:p>
            <a:pPr algn="ctr"/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max_steps=1000</a:t>
            </a:r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Standard scaling</a:t>
            </a:r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RTX 4060 Ti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212000" y="1710000.0"/>
            <a:ext cx="108000" cy="0.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320000" y="1080000"/>
            <a:ext cx="1872000" cy="1260000"/>
          </a:xfrm>
          <a:prstGeom prst="roundRect">
            <a:avLst/>
          </a:prstGeom>
          <a:solidFill>
            <a:srgbClr val="FDEBD0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72000" bIns="72000"/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10 Deep Learning Models ×</a:t>
            </a:r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5 Architectural Families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6000" y="2448000"/>
            <a:ext cx="648000" cy="432000"/>
          </a:xfrm>
          <a:prstGeom prst="roundRect">
            <a:avLst/>
          </a:prstGeom>
          <a:solidFill>
            <a:srgbClr val="FFEBC8"/>
          </a:solidFill>
          <a:ln w="381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" rIns="18000"/>
          <a:lstStyle/>
          <a:p>
            <a:pPr algn="ctr"/>
            <a:r>
              <a:rPr sz="600" b="1">
                <a:solidFill>
                  <a:srgbClr val="000000"/>
                </a:solidFill>
                <a:latin typeface="Arial"/>
              </a:rPr>
              <a:t>Basis</a:t>
            </a:r>
          </a:p>
          <a:p>
            <a:pPr algn="ctr"/>
            <a:r>
              <a:rPr sz="600" b="1">
                <a:solidFill>
                  <a:srgbClr val="000000"/>
                </a:solidFill>
                <a:latin typeface="Arial"/>
              </a:rPr>
              <a:t>Expansion</a:t>
            </a:r>
          </a:p>
          <a:p>
            <a:pPr algn="ctr"/>
            <a:r>
              <a:rPr sz="600">
                <a:solidFill>
                  <a:srgbClr val="000000"/>
                </a:solidFill>
                <a:latin typeface="Arial"/>
              </a:rPr>
              <a:t>N-BEATS</a:t>
            </a:r>
          </a:p>
          <a:p>
            <a:pPr algn="ctr"/>
            <a:r>
              <a:rPr sz="600">
                <a:solidFill>
                  <a:srgbClr val="000000"/>
                </a:solidFill>
                <a:latin typeface="Arial"/>
              </a:rPr>
              <a:t>N-HiTS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2000" y="2448000"/>
            <a:ext cx="648000" cy="432000"/>
          </a:xfrm>
          <a:prstGeom prst="roundRect">
            <a:avLst/>
          </a:prstGeom>
          <a:solidFill>
            <a:srgbClr val="FFEBC8"/>
          </a:solidFill>
          <a:ln w="381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" rIns="18000"/>
          <a:lstStyle/>
          <a:p>
            <a:pPr algn="ctr"/>
            <a:r>
              <a:rPr sz="600" b="1">
                <a:solidFill>
                  <a:srgbClr val="000000"/>
                </a:solidFill>
                <a:latin typeface="Arial"/>
              </a:rPr>
              <a:t>Transform</a:t>
            </a:r>
          </a:p>
          <a:p>
            <a:pPr algn="ctr"/>
            <a:r>
              <a:rPr sz="600" b="1">
                <a:solidFill>
                  <a:srgbClr val="000000"/>
                </a:solidFill>
                <a:latin typeface="Arial"/>
              </a:rPr>
              <a:t>er</a:t>
            </a:r>
          </a:p>
          <a:p>
            <a:pPr algn="ctr"/>
            <a:r>
              <a:rPr sz="600">
                <a:solidFill>
                  <a:srgbClr val="000000"/>
                </a:solidFill>
                <a:latin typeface="Arial"/>
              </a:rPr>
              <a:t>PatchTST</a:t>
            </a:r>
          </a:p>
          <a:p>
            <a:pPr algn="ctr"/>
            <a:r>
              <a:rPr sz="600">
                <a:solidFill>
                  <a:srgbClr val="000000"/>
                </a:solidFill>
                <a:latin typeface="Arial"/>
              </a:rPr>
              <a:t>TFT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88000" y="2448000"/>
            <a:ext cx="648000" cy="432000"/>
          </a:xfrm>
          <a:prstGeom prst="roundRect">
            <a:avLst/>
          </a:prstGeom>
          <a:solidFill>
            <a:srgbClr val="FFEBC8"/>
          </a:solidFill>
          <a:ln w="381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" rIns="18000"/>
          <a:lstStyle/>
          <a:p>
            <a:pPr algn="ctr"/>
            <a:r>
              <a:rPr sz="600" b="1">
                <a:solidFill>
                  <a:srgbClr val="000000"/>
                </a:solidFill>
                <a:latin typeface="Arial"/>
              </a:rPr>
              <a:t>MLP/</a:t>
            </a:r>
          </a:p>
          <a:p>
            <a:pPr algn="ctr"/>
            <a:r>
              <a:rPr sz="600" b="1">
                <a:solidFill>
                  <a:srgbClr val="000000"/>
                </a:solidFill>
                <a:latin typeface="Arial"/>
              </a:rPr>
              <a:t>Linear</a:t>
            </a:r>
          </a:p>
          <a:p>
            <a:pPr algn="ctr"/>
            <a:r>
              <a:rPr sz="600">
                <a:solidFill>
                  <a:srgbClr val="000000"/>
                </a:solidFill>
                <a:latin typeface="Arial"/>
              </a:rPr>
              <a:t>DLinear</a:t>
            </a:r>
          </a:p>
          <a:p>
            <a:pPr algn="ctr"/>
            <a:r>
              <a:rPr sz="600">
                <a:solidFill>
                  <a:srgbClr val="000000"/>
                </a:solidFill>
                <a:latin typeface="Arial"/>
              </a:rPr>
              <a:t>TiDE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916000"/>
            <a:ext cx="827999" cy="432000"/>
          </a:xfrm>
          <a:prstGeom prst="roundRect">
            <a:avLst/>
          </a:prstGeom>
          <a:solidFill>
            <a:srgbClr val="FFEBC8"/>
          </a:solidFill>
          <a:ln w="381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" rIns="18000"/>
          <a:lstStyle/>
          <a:p>
            <a:pPr algn="ctr"/>
            <a:r>
              <a:rPr sz="600" b="1">
                <a:solidFill>
                  <a:srgbClr val="000000"/>
                </a:solidFill>
                <a:latin typeface="Arial"/>
              </a:rPr>
              <a:t>CNN</a:t>
            </a:r>
          </a:p>
          <a:p>
            <a:pPr algn="ctr"/>
            <a:r>
              <a:rPr sz="600">
                <a:solidFill>
                  <a:srgbClr val="000000"/>
                </a:solidFill>
                <a:latin typeface="Arial"/>
              </a:rPr>
              <a:t>TCN</a:t>
            </a:r>
          </a:p>
          <a:p>
            <a:pPr algn="ctr"/>
            <a:r>
              <a:rPr sz="600">
                <a:solidFill>
                  <a:srgbClr val="000000"/>
                </a:solidFill>
                <a:latin typeface="Arial"/>
              </a:rPr>
              <a:t>BiTCN</a:t>
            </a:r>
          </a:p>
          <a:p>
            <a:pPr algn="ctr"/>
            <a:r>
              <a:rPr sz="600">
                <a:solidFill>
                  <a:srgbClr val="000000"/>
                </a:solidFill>
                <a:latin typeface="Arial"/>
              </a:rPr>
              <a:t>TimesNet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71999" y="2916000"/>
            <a:ext cx="827999" cy="432000"/>
          </a:xfrm>
          <a:prstGeom prst="roundRect">
            <a:avLst/>
          </a:prstGeom>
          <a:solidFill>
            <a:srgbClr val="FFEBC8"/>
          </a:solidFill>
          <a:ln w="381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" rIns="18000"/>
          <a:lstStyle/>
          <a:p>
            <a:pPr algn="ctr"/>
            <a:r>
              <a:rPr sz="600" b="1">
                <a:solidFill>
                  <a:srgbClr val="000000"/>
                </a:solidFill>
                <a:latin typeface="Arial"/>
              </a:rPr>
              <a:t>RNN</a:t>
            </a:r>
          </a:p>
          <a:p>
            <a:pPr algn="ctr"/>
            <a:r>
              <a:rPr sz="600">
                <a:solidFill>
                  <a:srgbClr val="000000"/>
                </a:solidFill>
                <a:latin typeface="Arial"/>
              </a:rPr>
              <a:t>LSTM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92000" y="1710000.0"/>
            <a:ext cx="108000" cy="0.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300000" y="1080000"/>
            <a:ext cx="1872000" cy="1260000"/>
          </a:xfrm>
          <a:prstGeom prst="roundRect">
            <a:avLst/>
          </a:prstGeom>
          <a:solidFill>
            <a:srgbClr val="D5F5E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72000" bIns="72000"/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Evaluation Metrics</a:t>
            </a:r>
          </a:p>
          <a:p>
            <a:pPr algn="ctr"/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MAE</a:t>
            </a:r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RMSE</a:t>
            </a:r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MAPE</a:t>
            </a:r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SMAPE</a:t>
            </a:r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R²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172000" y="1710000.0"/>
            <a:ext cx="108000" cy="0.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280000" y="1080000"/>
            <a:ext cx="1872000" cy="1260000"/>
          </a:xfrm>
          <a:prstGeom prst="roundRect">
            <a:avLst/>
          </a:prstGeom>
          <a:solidFill>
            <a:srgbClr val="E8DAE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72000" bIns="72000"/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Three-Tier Statistical</a:t>
            </a:r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Comparison Framework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52000" y="2448000"/>
            <a:ext cx="576000" cy="54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0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" rIns="18000"/>
          <a:lstStyle/>
          <a:p>
            <a:pPr algn="ctr"/>
            <a:r>
              <a:rPr sz="600" b="1">
                <a:solidFill>
                  <a:srgbClr val="000000"/>
                </a:solidFill>
                <a:latin typeface="Arial"/>
              </a:rPr>
              <a:t>Tier 1:</a:t>
            </a:r>
          </a:p>
          <a:p>
            <a:pPr algn="ctr"/>
            <a:r>
              <a:rPr sz="600" b="1">
                <a:solidFill>
                  <a:srgbClr val="000000"/>
                </a:solidFill>
                <a:latin typeface="Arial"/>
              </a:rPr>
              <a:t>Global</a:t>
            </a:r>
          </a:p>
          <a:p>
            <a:pPr algn="ctr"/>
            <a:r>
              <a:rPr sz="600">
                <a:solidFill>
                  <a:srgbClr val="000000"/>
                </a:solidFill>
                <a:latin typeface="Arial"/>
              </a:rPr>
              <a:t>Friedman</a:t>
            </a:r>
          </a:p>
          <a:p>
            <a:pPr algn="ctr"/>
            <a:r>
              <a:rPr sz="600">
                <a:solidFill>
                  <a:srgbClr val="000000"/>
                </a:solidFill>
                <a:latin typeface="Arial"/>
              </a:rPr>
              <a:t>Test +</a:t>
            </a:r>
          </a:p>
          <a:p>
            <a:pPr algn="ctr"/>
            <a:r>
              <a:rPr sz="600">
                <a:solidFill>
                  <a:srgbClr val="000000"/>
                </a:solidFill>
                <a:latin typeface="Arial"/>
              </a:rPr>
              <a:t>Nemenyi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2000" y="3024000"/>
            <a:ext cx="5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i="1">
                <a:solidFill>
                  <a:srgbClr val="FF8C00"/>
                </a:solidFill>
                <a:latin typeface="Arial"/>
              </a:rPr>
              <a:t>Are models</a:t>
            </a:r>
            <a:br/>
            <a:r>
              <a:rPr sz="600" i="1">
                <a:solidFill>
                  <a:srgbClr val="FF8C00"/>
                </a:solidFill>
                <a:latin typeface="Arial"/>
              </a:rPr>
              <a:t>different?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46000" y="2448000"/>
            <a:ext cx="576000" cy="54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0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" rIns="18000"/>
          <a:lstStyle/>
          <a:p>
            <a:pPr algn="ctr"/>
            <a:r>
              <a:rPr sz="600" b="1">
                <a:solidFill>
                  <a:srgbClr val="000000"/>
                </a:solidFill>
                <a:latin typeface="Arial"/>
              </a:rPr>
              <a:t>Tier 2:</a:t>
            </a:r>
          </a:p>
          <a:p>
            <a:pPr algn="ctr"/>
            <a:r>
              <a:rPr sz="600" b="1">
                <a:solidFill>
                  <a:srgbClr val="000000"/>
                </a:solidFill>
                <a:latin typeface="Arial"/>
              </a:rPr>
              <a:t>Pairwise</a:t>
            </a:r>
          </a:p>
          <a:p>
            <a:pPr algn="ctr"/>
            <a:r>
              <a:rPr sz="600">
                <a:solidFill>
                  <a:srgbClr val="000000"/>
                </a:solidFill>
                <a:latin typeface="Arial"/>
              </a:rPr>
              <a:t>Diebold–</a:t>
            </a:r>
          </a:p>
          <a:p>
            <a:pPr algn="ctr"/>
            <a:r>
              <a:rPr sz="600">
                <a:solidFill>
                  <a:srgbClr val="000000"/>
                </a:solidFill>
                <a:latin typeface="Arial"/>
              </a:rPr>
              <a:t>Mariano +</a:t>
            </a:r>
          </a:p>
          <a:p>
            <a:pPr algn="ctr"/>
            <a:r>
              <a:rPr sz="600">
                <a:solidFill>
                  <a:srgbClr val="000000"/>
                </a:solidFill>
                <a:latin typeface="Arial"/>
              </a:rPr>
              <a:t>Harvey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46000" y="3024000"/>
            <a:ext cx="5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i="1">
                <a:solidFill>
                  <a:srgbClr val="FF8C00"/>
                </a:solidFill>
                <a:latin typeface="Arial"/>
              </a:rPr>
              <a:t>Which pairs</a:t>
            </a:r>
            <a:br/>
            <a:r>
              <a:rPr sz="600" i="1">
                <a:solidFill>
                  <a:srgbClr val="FF8C00"/>
                </a:solidFill>
                <a:latin typeface="Arial"/>
              </a:rPr>
              <a:t>differ?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40000" y="2448000"/>
            <a:ext cx="576000" cy="54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0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" rIns="18000"/>
          <a:lstStyle/>
          <a:p>
            <a:pPr algn="ctr"/>
            <a:r>
              <a:rPr sz="600" b="1">
                <a:solidFill>
                  <a:srgbClr val="000000"/>
                </a:solidFill>
                <a:latin typeface="Arial"/>
              </a:rPr>
              <a:t>Tier 3:</a:t>
            </a:r>
          </a:p>
          <a:p>
            <a:pPr algn="ctr"/>
            <a:r>
              <a:rPr sz="600" b="1">
                <a:solidFill>
                  <a:srgbClr val="000000"/>
                </a:solidFill>
                <a:latin typeface="Arial"/>
              </a:rPr>
              <a:t>Set-based</a:t>
            </a:r>
          </a:p>
          <a:p>
            <a:pPr algn="ctr"/>
            <a:r>
              <a:rPr sz="600">
                <a:solidFill>
                  <a:srgbClr val="000000"/>
                </a:solidFill>
                <a:latin typeface="Arial"/>
              </a:rPr>
              <a:t>Model</a:t>
            </a:r>
          </a:p>
          <a:p>
            <a:pPr algn="ctr"/>
            <a:r>
              <a:rPr sz="600">
                <a:solidFill>
                  <a:srgbClr val="000000"/>
                </a:solidFill>
                <a:latin typeface="Arial"/>
              </a:rPr>
              <a:t>Confidence</a:t>
            </a:r>
          </a:p>
          <a:p>
            <a:pPr algn="ctr"/>
            <a:r>
              <a:rPr sz="600">
                <a:solidFill>
                  <a:srgbClr val="000000"/>
                </a:solidFill>
                <a:latin typeface="Arial"/>
              </a:rPr>
              <a:t>Set (MCS)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40000" y="3024000"/>
            <a:ext cx="5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i="1">
                <a:solidFill>
                  <a:srgbClr val="FF8C00"/>
                </a:solidFill>
                <a:latin typeface="Arial"/>
              </a:rPr>
              <a:t>Best</a:t>
            </a:r>
            <a:br/>
            <a:r>
              <a:rPr sz="600" i="1">
                <a:solidFill>
                  <a:srgbClr val="FF8C00"/>
                </a:solidFill>
                <a:latin typeface="Arial"/>
              </a:rPr>
              <a:t>subset?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152000" y="1710000.0"/>
            <a:ext cx="108000" cy="0.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260000" y="1080000"/>
            <a:ext cx="1872000" cy="1260000"/>
          </a:xfrm>
          <a:prstGeom prst="roundRect">
            <a:avLst/>
          </a:prstGeom>
          <a:solidFill>
            <a:srgbClr val="2C3E50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72000" bIns="7200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Results</a:t>
            </a:r>
          </a:p>
          <a:p>
            <a:pPr algn="ctr"/>
          </a:p>
          <a:p>
            <a:pPr algn="ctr"/>
            <a:r>
              <a:rPr sz="800">
                <a:solidFill>
                  <a:srgbClr val="FFFFFF"/>
                </a:solidFill>
                <a:latin typeface="Arial"/>
              </a:rPr>
              <a:t>Model Rankings</a:t>
            </a:r>
          </a:p>
          <a:p>
            <a:pPr algn="ctr"/>
          </a:p>
          <a:p>
            <a:pPr algn="ctr"/>
            <a:r>
              <a:rPr sz="800">
                <a:solidFill>
                  <a:srgbClr val="FFFFFF"/>
                </a:solidFill>
                <a:latin typeface="Arial"/>
              </a:rPr>
              <a:t>Port-Specific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Arial"/>
              </a:rPr>
              <a:t>Guidelines</a:t>
            </a:r>
          </a:p>
          <a:p>
            <a:pPr algn="ctr"/>
          </a:p>
          <a:p>
            <a:pPr algn="ctr"/>
            <a:r>
              <a:rPr sz="800">
                <a:solidFill>
                  <a:srgbClr val="FFFFFF"/>
                </a:solidFill>
                <a:latin typeface="Arial"/>
              </a:rPr>
              <a:t>Best Model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