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84400" cy="1115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6000" y="720000"/>
            <a:ext cx="576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Data Collection &amp; Description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5 Taiwanese Ports · 2001–2026 · 301 months/port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Kaohsiung · Keelung · Taipei · Taichung · Anping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276000.0" y="151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396000" y="1800000"/>
            <a:ext cx="576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Experimental Setup (NeuralForecast)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Train/Test split (last 12 months) · h=12 · input_size=24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max_steps=1000 · Standard scaling · RTX 4060 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76000.0" y="259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96000" y="2880000"/>
            <a:ext cx="5760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10 Deep Learning Models × 5 Architectural 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00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Basis Expansion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N-BEATS · N-HiTS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1999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Transformer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PatchTST · TFT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7999" y="3168000"/>
            <a:ext cx="17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MLP/Linear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DLinear · TiDE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000" y="3671999"/>
            <a:ext cx="26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TCN · BiTCN · TimesNet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000" y="3671999"/>
            <a:ext cx="2628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6000.0" y="414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6000" y="4428000"/>
            <a:ext cx="5760000" cy="792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MAE · RMSE · MAPE · SMAPE · R²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76000.0" y="522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6000" y="5508000"/>
            <a:ext cx="5760000" cy="1152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Three-Tier Statistical Comparison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1: Global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Friedman Test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Nemenyi Post-hoc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84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2: Pairwise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Diebold–Mariano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Harvey Correction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2000" y="5868000"/>
            <a:ext cx="180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3: Set-based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Model Confidence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2000" y="6480000"/>
            <a:ext cx="18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76000.0" y="666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96000" y="6948000"/>
            <a:ext cx="5760000" cy="792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Results: Model Rankings · Port-Specific Guidelines · 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