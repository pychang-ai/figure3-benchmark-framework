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0000" y="1080000"/>
            <a:ext cx="1872000" cy="1260000"/>
          </a:xfrm>
          <a:prstGeom prst="roundRect">
            <a:avLst/>
          </a:prstGeom>
          <a:solidFill>
            <a:srgbClr val="D6EAF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Data Collection &amp;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Description</a:t>
            </a:r>
          </a:p>
          <a:p>
            <a:pPr algn="ctr"/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5 Taiwanese Ports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2001–2026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301 months/port</a:t>
            </a:r>
          </a:p>
          <a:p>
            <a:pPr algn="ctr"/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Kaohsiung · Keelung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Taipei · Taichung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Anping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32000" y="1710000.0"/>
            <a:ext cx="108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40000" y="1080000"/>
            <a:ext cx="1872000" cy="1260000"/>
          </a:xfrm>
          <a:prstGeom prst="roundRect">
            <a:avLst/>
          </a:prstGeom>
          <a:solidFill>
            <a:srgbClr val="D6EAF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Experimental Setup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(NeuralForecast)</a:t>
            </a:r>
          </a:p>
          <a:p>
            <a:pPr algn="ctr"/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Train/Test split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(last 12 months)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h=12 · input_size=24</a:t>
            </a:r>
          </a:p>
          <a:p>
            <a:pPr algn="ctr"/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max_steps=1000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Standard scaling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RTX 4060 Ti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12000" y="1710000.0"/>
            <a:ext cx="108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20000" y="1080000"/>
            <a:ext cx="1872000" cy="1260000"/>
          </a:xfrm>
          <a:prstGeom prst="roundRect">
            <a:avLst/>
          </a:prstGeom>
          <a:solidFill>
            <a:srgbClr val="FDEB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10 Deep Learning Models ×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5 Architectural Families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6000" y="2448000"/>
            <a:ext cx="64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Basis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Expansion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N-BEATS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N-HiTS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2000" y="2448000"/>
            <a:ext cx="64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Transform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er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PatchTST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TFT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88000" y="2448000"/>
            <a:ext cx="64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MLP/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Linear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DLinear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TiDE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916000"/>
            <a:ext cx="827999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CNN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TCN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BiTCN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TimesNet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71999" y="2916000"/>
            <a:ext cx="827999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RNN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LSTM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2000" y="1710000.0"/>
            <a:ext cx="108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00000" y="1080000"/>
            <a:ext cx="1872000" cy="1260000"/>
          </a:xfrm>
          <a:prstGeom prst="roundRect">
            <a:avLst/>
          </a:prstGeom>
          <a:solidFill>
            <a:srgbClr val="D5F5E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Evaluation Metrics</a:t>
            </a:r>
          </a:p>
          <a:p>
            <a:pPr algn="ctr"/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MAE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RMSE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MAPE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SMAPE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R²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72000" y="1710000.0"/>
            <a:ext cx="108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80000" y="1080000"/>
            <a:ext cx="1872000" cy="1260000"/>
          </a:xfrm>
          <a:prstGeom prst="roundRect">
            <a:avLst/>
          </a:prstGeom>
          <a:solidFill>
            <a:srgbClr val="E8DAE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Three-Tier Statistical</a:t>
            </a:r>
          </a:p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Comparison Framework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2000" y="2448000"/>
            <a:ext cx="576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Tier 1: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Global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Friedman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Test +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Nemenyi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2000" y="3024000"/>
            <a:ext cx="5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i="1">
                <a:solidFill>
                  <a:srgbClr val="FF8C00"/>
                </a:solidFill>
                <a:latin typeface="Arial"/>
              </a:rPr>
              <a:t>Are models</a:t>
            </a:r>
            <a:br/>
            <a:r>
              <a:rPr sz="600" i="1">
                <a:solidFill>
                  <a:srgbClr val="FF8C00"/>
                </a:solidFill>
                <a:latin typeface="Arial"/>
              </a:rPr>
              <a:t>different?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6000" y="2448000"/>
            <a:ext cx="576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Tier 2: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Pairwise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Diebold–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Mariano +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Harvey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6000" y="3024000"/>
            <a:ext cx="5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i="1">
                <a:solidFill>
                  <a:srgbClr val="FF8C00"/>
                </a:solidFill>
                <a:latin typeface="Arial"/>
              </a:rPr>
              <a:t>Which pairs</a:t>
            </a:r>
            <a:br/>
            <a:r>
              <a:rPr sz="600" i="1">
                <a:solidFill>
                  <a:srgbClr val="FF8C00"/>
                </a:solidFill>
                <a:latin typeface="Arial"/>
              </a:rPr>
              <a:t>differ?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40000" y="2448000"/>
            <a:ext cx="576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/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Tier 3:</a:t>
            </a:r>
          </a:p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Set-based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Model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Confidence</a:t>
            </a:r>
          </a:p>
          <a:p>
            <a:pPr algn="ctr"/>
            <a:r>
              <a:rPr sz="600">
                <a:solidFill>
                  <a:srgbClr val="000000"/>
                </a:solidFill>
                <a:latin typeface="Arial"/>
              </a:rPr>
              <a:t>Set (MCS)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40000" y="3024000"/>
            <a:ext cx="5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i="1">
                <a:solidFill>
                  <a:srgbClr val="FF8C00"/>
                </a:solidFill>
                <a:latin typeface="Arial"/>
              </a:rPr>
              <a:t>Best</a:t>
            </a:r>
            <a:br/>
            <a:r>
              <a:rPr sz="600" i="1">
                <a:solidFill>
                  <a:srgbClr val="FF8C00"/>
                </a:solidFill>
                <a:latin typeface="Arial"/>
              </a:rPr>
              <a:t>subset?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52000" y="1710000.0"/>
            <a:ext cx="108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260000" y="1080000"/>
            <a:ext cx="1872000" cy="1260000"/>
          </a:xfrm>
          <a:prstGeom prst="roundRect">
            <a:avLst/>
          </a:prstGeom>
          <a:solidFill>
            <a:srgbClr val="2C3E5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72000" bIns="7200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Results</a:t>
            </a:r>
          </a:p>
          <a:p>
            <a:pPr algn="ctr"/>
          </a:p>
          <a:p>
            <a:pPr algn="ctr"/>
            <a:r>
              <a:rPr sz="800">
                <a:solidFill>
                  <a:srgbClr val="FFFFFF"/>
                </a:solidFill>
                <a:latin typeface="Arial"/>
              </a:rPr>
              <a:t>Model Rankings</a:t>
            </a:r>
          </a:p>
          <a:p>
            <a:pPr algn="ctr"/>
          </a:p>
          <a:p>
            <a:pPr algn="ctr"/>
            <a:r>
              <a:rPr sz="800">
                <a:solidFill>
                  <a:srgbClr val="FFFFFF"/>
                </a:solidFill>
                <a:latin typeface="Arial"/>
              </a:rPr>
              <a:t>Port-Specific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Arial"/>
              </a:rPr>
              <a:t>Guidelines</a:t>
            </a:r>
          </a:p>
          <a:p>
            <a:pPr algn="ctr"/>
          </a:p>
          <a:p>
            <a:pPr algn="ctr"/>
            <a:r>
              <a:rPr sz="800">
                <a:solidFill>
                  <a:srgbClr val="FFFFFF"/>
                </a:solidFill>
                <a:latin typeface="Arial"/>
              </a:rPr>
              <a:t>Best Model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