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584400" cy="11152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6000" y="720000"/>
            <a:ext cx="5760000" cy="792000"/>
          </a:xfrm>
          <a:prstGeom prst="roundRect">
            <a:avLst/>
          </a:prstGeom>
          <a:solidFill>
            <a:srgbClr val="D6EAF8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Data Collection &amp; Description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5 Taiwanese Ports · 2001–2026 · 301 months/port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Kaohsiung · Keelung · Taipei · Taichung · Anping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276000.0" y="1512000"/>
            <a:ext cx="0.0" cy="28800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396000" y="1800000"/>
            <a:ext cx="5760000" cy="792000"/>
          </a:xfrm>
          <a:prstGeom prst="roundRect">
            <a:avLst/>
          </a:prstGeom>
          <a:solidFill>
            <a:srgbClr val="D6EAF8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Experimental Setup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Train/Test split (last 12 months) · h=12 · input_size=24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max_steps=1000 · Standard scaling · RTX 4060 Ti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76000.0" y="2592000"/>
            <a:ext cx="0.0" cy="28800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96000" y="2880000"/>
            <a:ext cx="5760000" cy="1260000"/>
          </a:xfrm>
          <a:prstGeom prst="roundRect">
            <a:avLst/>
          </a:prstGeom>
          <a:solidFill>
            <a:srgbClr val="FDEBD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10 Deep Learning Models × 5 Architectural Families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00" y="3168000"/>
            <a:ext cx="1728000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Basis Expansion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N-BEATS · N-HiTS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11999" y="3168000"/>
            <a:ext cx="1728000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Transformer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PatchTST · TFT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7999" y="3168000"/>
            <a:ext cx="1728000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MLP/Linear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DLinear · TiDE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000" y="3671999"/>
            <a:ext cx="2628000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CNN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TCN · BiTCN · TimesNet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4000" y="3671999"/>
            <a:ext cx="2628000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RNN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LSTM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76000.0" y="4140000"/>
            <a:ext cx="0.0" cy="28800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96000" y="4428000"/>
            <a:ext cx="5760000" cy="792000"/>
          </a:xfrm>
          <a:prstGeom prst="roundRect">
            <a:avLst/>
          </a:prstGeom>
          <a:solidFill>
            <a:srgbClr val="D5F5E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Evaluation Metrics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MAE · RMSE · MAPE · SMAPE · R²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76000.0" y="5220000"/>
            <a:ext cx="0.0" cy="28800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96000" y="5508000"/>
            <a:ext cx="5760000" cy="1152000"/>
          </a:xfrm>
          <a:prstGeom prst="roundRect">
            <a:avLst/>
          </a:prstGeom>
          <a:solidFill>
            <a:srgbClr val="E8DAE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Three-Tier Statistical Comparison Framework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00" y="5868000"/>
            <a:ext cx="1800000" cy="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Tier 1: Global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Friedman Test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+ Nemenyi Post-hoc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" y="6480000"/>
            <a:ext cx="18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FF8C00"/>
                </a:solidFill>
                <a:latin typeface="Arial"/>
              </a:rPr>
              <a:t>Are models</a:t>
            </a:r>
            <a:br/>
            <a:r>
              <a:rPr sz="800" i="1">
                <a:solidFill>
                  <a:srgbClr val="FF8C00"/>
                </a:solidFill>
                <a:latin typeface="Arial"/>
              </a:rPr>
              <a:t>different?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84000" y="5868000"/>
            <a:ext cx="1800000" cy="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Tier 2: Pairwise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Diebold–Mariano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+ Harvey Correction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4000" y="6480000"/>
            <a:ext cx="18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FF8C00"/>
                </a:solidFill>
                <a:latin typeface="Arial"/>
              </a:rPr>
              <a:t>Which pairs</a:t>
            </a:r>
            <a:br/>
            <a:r>
              <a:rPr sz="800" i="1">
                <a:solidFill>
                  <a:srgbClr val="FF8C00"/>
                </a:solidFill>
                <a:latin typeface="Arial"/>
              </a:rPr>
              <a:t>differ?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92000" y="5868000"/>
            <a:ext cx="1800000" cy="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Tier 3: Set-based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Model Confidence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Set (MCS)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2000" y="6480000"/>
            <a:ext cx="18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FF8C00"/>
                </a:solidFill>
                <a:latin typeface="Arial"/>
              </a:rPr>
              <a:t>Best</a:t>
            </a:r>
            <a:br/>
            <a:r>
              <a:rPr sz="800" i="1">
                <a:solidFill>
                  <a:srgbClr val="FF8C00"/>
                </a:solidFill>
                <a:latin typeface="Arial"/>
              </a:rPr>
              <a:t>subset?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76000.0" y="6660000"/>
            <a:ext cx="0.0" cy="28800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96000" y="6948000"/>
            <a:ext cx="5760000" cy="792000"/>
          </a:xfrm>
          <a:prstGeom prst="roundRect">
            <a:avLst/>
          </a:prstGeom>
          <a:solidFill>
            <a:srgbClr val="2C3E5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Results: Model Rankings · Port-Specific Guidelines · Best Model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